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Instrument Sans Medium" panose="020B0604020202020204" charset="0"/>
      <p:regular r:id="rId19"/>
    </p:embeddedFont>
    <p:embeddedFont>
      <p:font typeface="Instrument Sans Semi Bold" panose="020B0604020202020204" charset="0"/>
      <p:regular r:id="rId20"/>
    </p:embeddedFont>
  </p:embeddedFontLst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81" y="1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097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909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Smart ATM Cash Optimizer — End-Term Presentation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3028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presentation outlines the comprehensive system and machine learning capabilities of our new Smart ATM Cash Optimizer.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21124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Presented by: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292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Devraj (2022CSB1077)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714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Girish (2022CSB1083)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88954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Under: CP302 – IIT Ropar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650759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Supervisor:   Prof. Apurva Mudgal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75711"/>
            <a:ext cx="123646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Problem &amp; Motivation: The Cost of Inefficiency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38118"/>
            <a:ext cx="4196358" cy="3315772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038118"/>
            <a:ext cx="121920" cy="3315772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29541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High Logistics Costs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142524" y="3856792"/>
            <a:ext cx="35903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Traditional cash management incurs significant operational expenses, alongside the detrimental impact of stock-outs on customer experience and loyalty.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038118"/>
            <a:ext cx="4196358" cy="3315772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3038118"/>
            <a:ext cx="121920" cy="3315772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3295412"/>
            <a:ext cx="3590330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Inefficient Manual Planning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565696" y="4282083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Cash demand fluctuates significantly by day and location, making manual planning methods prone to errors and suboptimal allocations.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038118"/>
            <a:ext cx="4196358" cy="3315772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3038118"/>
            <a:ext cx="121920" cy="3315772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3295412"/>
            <a:ext cx="3590330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Need for Data-Driven Solutions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9988868" y="4282083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There is a critical need for a predictive, data-driven system to optimize cash allocation and enable proactive monitoring.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2823"/>
            <a:ext cx="13042821" cy="134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Optimization Engine: Precision in Cash Logistics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93790" y="2783681"/>
            <a:ext cx="6413659" cy="2284690"/>
          </a:xfrm>
          <a:prstGeom prst="roundRect">
            <a:avLst>
              <a:gd name="adj" fmla="val 6404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753201"/>
            <a:ext cx="6413659" cy="121920"/>
          </a:xfrm>
          <a:prstGeom prst="roundRect">
            <a:avLst>
              <a:gd name="adj" fmla="val 159070"/>
            </a:avLst>
          </a:prstGeom>
          <a:solidFill>
            <a:srgbClr val="84C1FA"/>
          </a:solidFill>
          <a:ln/>
        </p:spPr>
      </p:sp>
      <p:sp>
        <p:nvSpPr>
          <p:cNvPr id="5" name="Shape 3"/>
          <p:cNvSpPr/>
          <p:nvPr/>
        </p:nvSpPr>
        <p:spPr>
          <a:xfrm>
            <a:off x="3677424" y="2460546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84C1FA"/>
          </a:solidFill>
          <a:ln/>
        </p:spPr>
      </p:sp>
      <p:sp>
        <p:nvSpPr>
          <p:cNvPr id="6" name="Text 4"/>
          <p:cNvSpPr/>
          <p:nvPr/>
        </p:nvSpPr>
        <p:spPr>
          <a:xfrm>
            <a:off x="3949914" y="2568296"/>
            <a:ext cx="258485" cy="323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39654" y="3322320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Greedy Algorithm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39654" y="3788093"/>
            <a:ext cx="592193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Prioritizes immediate, most critical needs by matching the largest ATM shortages with available vault balances.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422833" y="2783681"/>
            <a:ext cx="6413778" cy="2284690"/>
          </a:xfrm>
          <a:prstGeom prst="roundRect">
            <a:avLst>
              <a:gd name="adj" fmla="val 6404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422833" y="2753201"/>
            <a:ext cx="6413778" cy="121920"/>
          </a:xfrm>
          <a:prstGeom prst="roundRect">
            <a:avLst>
              <a:gd name="adj" fmla="val 159070"/>
            </a:avLst>
          </a:prstGeom>
          <a:solidFill>
            <a:srgbClr val="84C1FA"/>
          </a:solidFill>
          <a:ln/>
        </p:spPr>
      </p:sp>
      <p:sp>
        <p:nvSpPr>
          <p:cNvPr id="11" name="Shape 9"/>
          <p:cNvSpPr/>
          <p:nvPr/>
        </p:nvSpPr>
        <p:spPr>
          <a:xfrm>
            <a:off x="10306467" y="2460546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84C1FA"/>
          </a:solidFill>
          <a:ln/>
        </p:spPr>
      </p:sp>
      <p:sp>
        <p:nvSpPr>
          <p:cNvPr id="12" name="Text 10"/>
          <p:cNvSpPr/>
          <p:nvPr/>
        </p:nvSpPr>
        <p:spPr>
          <a:xfrm>
            <a:off x="10540484" y="2606873"/>
            <a:ext cx="258485" cy="323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668697" y="3322320"/>
            <a:ext cx="3220760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Linear Programming (LP)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668697" y="3788093"/>
            <a:ext cx="5922050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Minimizes unmet demand through a sophisticated mathematical model, optimizing allocations under defined constraints.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93790" y="5606891"/>
            <a:ext cx="6413659" cy="1939885"/>
          </a:xfrm>
          <a:prstGeom prst="roundRect">
            <a:avLst>
              <a:gd name="adj" fmla="val 7542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93790" y="5576411"/>
            <a:ext cx="6413659" cy="121920"/>
          </a:xfrm>
          <a:prstGeom prst="roundRect">
            <a:avLst>
              <a:gd name="adj" fmla="val 159070"/>
            </a:avLst>
          </a:prstGeom>
          <a:solidFill>
            <a:srgbClr val="84C1FA"/>
          </a:solidFill>
          <a:ln/>
        </p:spPr>
      </p:sp>
      <p:sp>
        <p:nvSpPr>
          <p:cNvPr id="17" name="Shape 15"/>
          <p:cNvSpPr/>
          <p:nvPr/>
        </p:nvSpPr>
        <p:spPr>
          <a:xfrm>
            <a:off x="3677424" y="5283756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84C1FA"/>
          </a:solidFill>
          <a:ln/>
        </p:spPr>
      </p:sp>
      <p:sp>
        <p:nvSpPr>
          <p:cNvPr id="18" name="Text 16"/>
          <p:cNvSpPr/>
          <p:nvPr/>
        </p:nvSpPr>
        <p:spPr>
          <a:xfrm>
            <a:off x="3877807" y="5390675"/>
            <a:ext cx="258485" cy="323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39654" y="6145530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Robust Fallback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039654" y="6611303"/>
            <a:ext cx="592193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Ensures operational continuity by reverting to the Greedy algorithm if the LP solver encounters failure.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422833" y="5606891"/>
            <a:ext cx="6413778" cy="1939885"/>
          </a:xfrm>
          <a:prstGeom prst="roundRect">
            <a:avLst>
              <a:gd name="adj" fmla="val 7542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22833" y="5576411"/>
            <a:ext cx="6413778" cy="121920"/>
          </a:xfrm>
          <a:prstGeom prst="roundRect">
            <a:avLst>
              <a:gd name="adj" fmla="val 159070"/>
            </a:avLst>
          </a:prstGeom>
          <a:solidFill>
            <a:srgbClr val="84C1FA"/>
          </a:solidFill>
          <a:ln/>
        </p:spPr>
      </p:sp>
      <p:sp>
        <p:nvSpPr>
          <p:cNvPr id="23" name="Shape 21"/>
          <p:cNvSpPr/>
          <p:nvPr/>
        </p:nvSpPr>
        <p:spPr>
          <a:xfrm>
            <a:off x="10306467" y="5283756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84C1FA"/>
          </a:solidFill>
          <a:ln/>
        </p:spPr>
      </p:sp>
      <p:sp>
        <p:nvSpPr>
          <p:cNvPr id="24" name="Text 22"/>
          <p:cNvSpPr/>
          <p:nvPr/>
        </p:nvSpPr>
        <p:spPr>
          <a:xfrm>
            <a:off x="10529264" y="5375195"/>
            <a:ext cx="258485" cy="323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668697" y="6145530"/>
            <a:ext cx="2878336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Allocation Plan Output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7668697" y="6611303"/>
            <a:ext cx="5922050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Delivers a clear allocation strategy and quantifies any residual shortages for further action.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1405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Literature Review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93790" y="1909524"/>
            <a:ext cx="6272451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1. Demand Forecasting Foundations (applicable to ATMs)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93790" y="2751296"/>
            <a:ext cx="6272451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Box, Jenkins, Reinsel &amp; Ljung (2015). "Time Series Analysis: Forecasting and Control" — ARIMA/SARIMA foundations for seasonal daily demand.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3790" y="3802856"/>
            <a:ext cx="6272451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Taylor &amp; Letham (2017). "Forecasting at Scale" (Prophet) — Additive trend + seasonality + holidays; robust to changepoints (bank holidays, payroll).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3790" y="4854416"/>
            <a:ext cx="6272451" cy="98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Makridakis et al. (2018, 2020). "M4/M5 Competitions" — Evidence for ensembles/ML hybrids outperforming single models at scale.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71780" y="1909524"/>
            <a:ext cx="6272451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2. Multi-Objective Vehicle Routing Optimization (MOVRP / related VRP variants)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71780" y="2751296"/>
            <a:ext cx="6272451" cy="1960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/>
            </a:pPr>
            <a:r>
              <a:rPr lang="en-US" sz="16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Multi-objective vehicle routing problem with time windows using goal programming and genetic algorithm</a:t>
            </a: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(Ghoseiri &amp; Ghannadpour, 2010) : Early work formulating a VRP with time-windows as a multi-objective problem (e.g. minimizing cost/distance + time), solved via Genetic Algorithm. This shows how classic VRP can be extended to multi-objective setups.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71780" y="5113958"/>
            <a:ext cx="6272451" cy="2613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Font typeface="+mj-lt"/>
              <a:buAutoNum type="arabicPeriod" startAt="2"/>
            </a:pPr>
            <a:r>
              <a:rPr lang="en-US" sz="16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NSGA‑II and TOPSIS for a Multi‑objective Vehicle Routing Problem with Ecological Considerations</a:t>
            </a: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(Petrovic, Islam &amp; Trautrims, 2024): Introduces a multi-objective VRP approach that optimizes not only distance/cost but also environmental impact (fuel consumption / emissions), combining a metaheuristic (NSGA-II) with a decision-making method (TOPSIS). Useful if you want to extend routing towards "green" or cost+environment trade-offs.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5939"/>
            <a:ext cx="93801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Project Objectives &amp; System Scope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216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566749"/>
            <a:ext cx="5154216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Full-Stack System Development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3218855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Implemented a robust application featuring a React UI, a Flask API backend, and a SQLite database for efficient data management.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21216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02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2566749"/>
            <a:ext cx="416194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Advanced ML Forecasting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599521" y="3218855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Integrated sophisticated machine learning models including ARIMA, LSTM, and Ensemble methods for accurate demand prediction.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49936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03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3790" y="5438656"/>
            <a:ext cx="488811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Robust Transaction Workflows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793790" y="6090761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Designed and implemented comprehensive transaction workflows, including flexible sections and seamless CSV import/export functionalities.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9936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04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599521" y="5438656"/>
            <a:ext cx="474499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Operational Decision Support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7599521" y="6090761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Provided advanced filtering and analytical tools to empower stakeholders with actionable insights for optimized decision-making.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3772"/>
            <a:ext cx="108837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 Enhancements &amp; Schema Evolution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56341"/>
            <a:ext cx="6407944" cy="2449116"/>
          </a:xfrm>
          <a:prstGeom prst="roundRect">
            <a:avLst>
              <a:gd name="adj" fmla="val 5974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125861"/>
            <a:ext cx="6407944" cy="121920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540" y="181617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4C1FA"/>
          </a:solidFill>
          <a:ln/>
        </p:spPr>
      </p:sp>
      <p:sp>
        <p:nvSpPr>
          <p:cNvPr id="6" name="Text 4"/>
          <p:cNvSpPr/>
          <p:nvPr/>
        </p:nvSpPr>
        <p:spPr>
          <a:xfrm>
            <a:off x="3861614" y="198632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2723317"/>
            <a:ext cx="34384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Transaction Section Table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3213735"/>
            <a:ext cx="5893356" cy="1134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migration script introduced a new </a:t>
            </a:r>
            <a:r>
              <a:rPr lang="en-US" sz="17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transaction_section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table, adding </a:t>
            </a:r>
            <a:r>
              <a:rPr lang="en-US" sz="17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section_id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and </a:t>
            </a:r>
            <a:r>
              <a:rPr lang="en-US" sz="17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notes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fields for enhanced data organization.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2156341"/>
            <a:ext cx="6408063" cy="2449116"/>
          </a:xfrm>
          <a:prstGeom prst="roundRect">
            <a:avLst>
              <a:gd name="adj" fmla="val 5974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428548" y="2125861"/>
            <a:ext cx="6408063" cy="121920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11" name="Shape 9"/>
          <p:cNvSpPr/>
          <p:nvPr/>
        </p:nvSpPr>
        <p:spPr>
          <a:xfrm>
            <a:off x="10292298" y="181617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4C1FA"/>
          </a:solidFill>
          <a:ln/>
        </p:spPr>
      </p:sp>
      <p:sp>
        <p:nvSpPr>
          <p:cNvPr id="12" name="Text 10"/>
          <p:cNvSpPr/>
          <p:nvPr/>
        </p:nvSpPr>
        <p:spPr>
          <a:xfrm>
            <a:off x="10496371" y="1986320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685842" y="27233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Key Entities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842" y="3213735"/>
            <a:ext cx="58934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core entities now include: Dashboard, Vault, ATM, and the newly added Transaction History and ML Forecast, 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93790" y="5172432"/>
            <a:ext cx="6407944" cy="2403396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93790" y="5141952"/>
            <a:ext cx="6407944" cy="121920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540" y="483227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4C1FA"/>
          </a:solidFill>
          <a:ln/>
        </p:spPr>
      </p:sp>
      <p:sp>
        <p:nvSpPr>
          <p:cNvPr id="18" name="Text 16"/>
          <p:cNvSpPr/>
          <p:nvPr/>
        </p:nvSpPr>
        <p:spPr>
          <a:xfrm>
            <a:off x="3861614" y="500241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51084" y="5739408"/>
            <a:ext cx="31083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Safe Additive Migration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51084" y="6229826"/>
            <a:ext cx="58933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migration was designed to be safe and additive, preserving approximately 1927 existing transactions without data loss.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428548" y="5172432"/>
            <a:ext cx="6408063" cy="2403396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28548" y="5141952"/>
            <a:ext cx="6408063" cy="121920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92298" y="483227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4C1FA"/>
          </a:solidFill>
          <a:ln/>
        </p:spPr>
      </p:sp>
      <p:sp>
        <p:nvSpPr>
          <p:cNvPr id="24" name="Text 22"/>
          <p:cNvSpPr/>
          <p:nvPr/>
        </p:nvSpPr>
        <p:spPr>
          <a:xfrm>
            <a:off x="10496371" y="500241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7685842" y="57394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ML Train/Test Splits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685842" y="6229826"/>
            <a:ext cx="58934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introduction of sections facilitates clean and efficient train/validation/test splits for machine learning model development and evaluation (80/20).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5122"/>
            <a:ext cx="12775525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Significant Mid-Term Enhancements Implemented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214086"/>
            <a:ext cx="5945505" cy="47979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5710" y="2187059"/>
            <a:ext cx="3819882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ML Forecasting &amp; Visuals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7585710" y="2806422"/>
            <a:ext cx="6258520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Dedicated ML Forecast tab with configurable ATM, model selection, forecast days, and key metrics cards.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7585710" y="3571399"/>
            <a:ext cx="6258520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Interactive line chart for visualizing forecast data and trends.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585710" y="4336375"/>
            <a:ext cx="6258520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Enhanced visual feedback: color-coded badges, clear hover states, informative modals, and dynamic summary cards.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2617"/>
            <a:ext cx="12775525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Significant Mid-Term Enhancements Implemented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2144554"/>
            <a:ext cx="3232190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Navigation &amp; Tools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93790" y="2763917"/>
            <a:ext cx="6258520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Header buttons for "Manage Sections", "Import CSV", "Export CSV", and "Refresh" for quick access.</a:t>
            </a:r>
            <a:endParaRPr lang="en-US" sz="1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695938"/>
            <a:ext cx="5373648" cy="33585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85710" y="2123003"/>
            <a:ext cx="6258520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Expanded filter grid with "Section", "Min/Max Amount", "Time of Day", and quick amount range buttons.</a:t>
            </a:r>
            <a:endParaRPr lang="en-US" sz="16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3A5824-5BC2-815B-EE36-70EF75B418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1189" y="3695938"/>
            <a:ext cx="5211519" cy="32571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5611"/>
            <a:ext cx="117699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ML Pipeline &amp; Assets: The Prediction Engine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5136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8673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Synthetic Dataset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448526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Developed a 12-month synthetic ATM demand dataset, incorporating different ATMS.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40114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793790" y="49171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Persisted Artifacts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5498306"/>
            <a:ext cx="624470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Saved trained models as ARIMA/LSTM/Ensemble </a:t>
            </a:r>
            <a:r>
              <a:rPr lang="en-US" sz="17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.pkl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files, along with </a:t>
            </a:r>
            <a:r>
              <a:rPr lang="en-US" sz="17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model_metrics.csv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for performance tracking.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235136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599521" y="28673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Implemented Models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599521" y="3448526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Integrated ARIMA(5,1,2), LSTM (with a 30-day lookback and 50 units), and an Ensemble aggregator for diverse forecasting.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76404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7599521" y="52800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Analysis Notebooks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599521" y="586120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Comprehensive notebooks for Exploratory Data Analysis (EDA) and model training, including metrics calculation (MAE, RMSE, MAPE, R²).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7115"/>
            <a:ext cx="832961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ML Performance Summary: Model Strengths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924883" y="2572703"/>
            <a:ext cx="1952863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3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19.05%</a:t>
            </a:r>
            <a:endParaRPr lang="en-US" sz="3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571" y="1580436"/>
            <a:ext cx="2381607" cy="23816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86903" y="4160401"/>
            <a:ext cx="202906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ARIMA: Lowest MAPE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4503658"/>
            <a:ext cx="4215289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Achieved the lowest Mean Absolute Percentage Error, indicating strong accuracy in percentage terms.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338649" y="2572703"/>
            <a:ext cx="1952863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3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35,980</a:t>
            </a:r>
            <a:endParaRPr lang="en-US" sz="3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4337" y="1580436"/>
            <a:ext cx="2381607" cy="238160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22814" y="4160401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LSTM: Best RMSE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5207437" y="4503658"/>
            <a:ext cx="4215408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Demonstrated the best Root Mean Square Error, effectively handling complex patterns in demand data.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0752296" y="2572703"/>
            <a:ext cx="1952863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31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18.2%</a:t>
            </a:r>
            <a:endParaRPr lang="en-US" sz="3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7984" y="1580436"/>
            <a:ext cx="2381607" cy="238160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121622" y="4160401"/>
            <a:ext cx="321444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Ensemble: Improved MAE &amp; MAPE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9621203" y="4503658"/>
            <a:ext cx="4215289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Provided the best overall stability with improved Mean Absolute Error and Mean Absolute Percentage Error.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793790" y="5249942"/>
            <a:ext cx="3070860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Average 3-Day Accuracy by ATM: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793790" y="5878949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ATM 4 (Residential): 83.86% - High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793790" y="6275903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ATM 3 (University): 79.73% - High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793790" y="6672858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ATM 5 (Shopping): 74.18% - Moderate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7516416" y="5878949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ATM 1 (Business): 80.95% - High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7516416" y="6275903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ATM 2 (Retail): 78.01% - Moderate-High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7516416" y="6672858"/>
            <a:ext cx="632781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ATM 6 (Transit): 65.19% - Moderate-Low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793790" y="7248406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*System Average: 76.99% with practical guidance on safety buffers and confidence levels for each ATM location's 3-day forecasts.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87855"/>
            <a:ext cx="699420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Strategic Future Roadmap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636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2082" y="4164037"/>
            <a:ext cx="6244709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Vehicle Routing Optimization (Multi-Objective)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86170" y="5247044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Optimizes ATM cash-replenishment routes by balancing multiple goals like distance, time, vehicles used, and workload, using weighted scoring and Pareto-based trade-off analysis.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1636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02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120908"/>
            <a:ext cx="350127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Integrated Dashboard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599521" y="5253037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unified React dashboard that shows ATM status, cash forecasts, optimized routes, and analytics with real-time visualizations and interactive controls.</a:t>
            </a:r>
            <a:endParaRPr lang="en-US" sz="1750" dirty="0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FE0E6560-E39A-144B-3CB6-C925D0444760}"/>
              </a:ext>
            </a:extLst>
          </p:cNvPr>
          <p:cNvSpPr/>
          <p:nvPr/>
        </p:nvSpPr>
        <p:spPr>
          <a:xfrm>
            <a:off x="732081" y="3823010"/>
            <a:ext cx="6244709" cy="35957"/>
          </a:xfrm>
          <a:prstGeom prst="rect">
            <a:avLst/>
          </a:prstGeom>
          <a:solidFill>
            <a:srgbClr val="1E3063">
              <a:alpha val="50000"/>
            </a:srgbClr>
          </a:solidFill>
          <a:ln/>
        </p:spPr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07EB1B34-6136-9E12-C3A0-63772AEC3DF8}"/>
              </a:ext>
            </a:extLst>
          </p:cNvPr>
          <p:cNvSpPr/>
          <p:nvPr/>
        </p:nvSpPr>
        <p:spPr>
          <a:xfrm>
            <a:off x="7599520" y="3817423"/>
            <a:ext cx="6244709" cy="35957"/>
          </a:xfrm>
          <a:prstGeom prst="rect">
            <a:avLst/>
          </a:prstGeom>
          <a:solidFill>
            <a:srgbClr val="1E3063">
              <a:alpha val="50000"/>
            </a:srgbClr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838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03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93790" y="3006719"/>
            <a:ext cx="6244709" cy="35957"/>
          </a:xfrm>
          <a:prstGeom prst="rect">
            <a:avLst/>
          </a:prstGeom>
          <a:solidFill>
            <a:srgbClr val="1E3063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93790" y="3297793"/>
            <a:ext cx="4053721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Simple Mobile App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3949898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DRIVER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- A minimal app/PWA that shows daily routes, ATM details, and one-tap navigation, allowing drivers to mark tasks as completed in real time.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4267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- Real-time alerts for low cash. 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22838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04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599521" y="3006719"/>
            <a:ext cx="6244709" cy="35957"/>
          </a:xfrm>
          <a:prstGeom prst="rect">
            <a:avLst/>
          </a:prstGeom>
          <a:solidFill>
            <a:srgbClr val="1E3063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599521" y="329779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Anomaly Detection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599521" y="3949898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Uses ML algorithms to detect unusual ATM transaction patterns, generating alerts for potential fraud, abnormal withdrawals, or irregular activities.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1181</Words>
  <Application>Microsoft Office PowerPoint</Application>
  <PresentationFormat>Custom</PresentationFormat>
  <Paragraphs>127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Consolas</vt:lpstr>
      <vt:lpstr>Instrument Sans Medium</vt:lpstr>
      <vt:lpstr>Instrument Sans Semi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Devraj Bahl</cp:lastModifiedBy>
  <cp:revision>8</cp:revision>
  <dcterms:created xsi:type="dcterms:W3CDTF">2025-12-02T03:18:57Z</dcterms:created>
  <dcterms:modified xsi:type="dcterms:W3CDTF">2025-12-02T04:58:56Z</dcterms:modified>
</cp:coreProperties>
</file>